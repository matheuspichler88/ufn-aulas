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51B994-2A1C-DFAF-BE6F-0A746410C9B4}" v="337" dt="2026-06-02T19:25:43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9F1B81-6C5F-43B2-993C-8F2612391365}" type="datetimeFigureOut">
              <a:t>02/06/2026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749C9-9156-460A-A811-3595022A0D7F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0094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1475" y="283612"/>
            <a:ext cx="8401050" cy="487146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70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package</a:t>
            </a:r>
            <a:r>
              <a:rPr lang="en-US" sz="17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threads;
</a:t>
            </a:r>
            <a:r>
              <a:rPr lang="en-US" sz="170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import</a:t>
            </a:r>
            <a:r>
              <a:rPr lang="en-US" sz="17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1700" dirty="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model.Barbearia</a:t>
            </a:r>
            <a:r>
              <a:rPr lang="en-US" sz="17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;</a:t>
            </a:r>
            <a:endParaRPr lang="en-US" sz="1700" dirty="0">
              <a:solidFill>
                <a:srgbClr val="000000"/>
              </a:solidFill>
              <a:latin typeface="monospace"/>
              <a:ea typeface="monospace"/>
              <a:cs typeface="Calibri" panose="020F0502020204030204"/>
            </a:endParaRPr>
          </a:p>
          <a:p>
            <a:pPr>
              <a:lnSpc>
                <a:spcPct val="112000"/>
              </a:lnSpc>
            </a:pPr>
            <a:r>
              <a:rPr lang="en-US" sz="17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
</a:t>
            </a:r>
            <a:r>
              <a:rPr lang="en-US" sz="170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public class</a:t>
            </a:r>
            <a:r>
              <a:rPr lang="en-US" sz="17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1700" err="1">
                <a:solidFill>
                  <a:srgbClr val="2B91AF"/>
                </a:solidFill>
                <a:latin typeface="monospace"/>
                <a:ea typeface="monospace"/>
                <a:cs typeface="monospace" pitchFamily="34" charset="-120"/>
              </a:rPr>
              <a:t>Cliente</a:t>
            </a:r>
            <a:r>
              <a:rPr lang="en-US" sz="17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170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implements</a:t>
            </a:r>
            <a:r>
              <a:rPr lang="en-US" sz="17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1700" dirty="0">
                <a:solidFill>
                  <a:srgbClr val="2B91AF"/>
                </a:solidFill>
                <a:latin typeface="monospace"/>
                <a:ea typeface="monospace"/>
                <a:cs typeface="monospace" pitchFamily="34" charset="-120"/>
              </a:rPr>
              <a:t>Runnable</a:t>
            </a:r>
            <a:r>
              <a:rPr lang="en-US" sz="17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{
    </a:t>
            </a:r>
            <a:r>
              <a:rPr lang="en-US" sz="170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private final int</a:t>
            </a:r>
            <a:r>
              <a:rPr lang="en-US" sz="17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id;
    </a:t>
            </a:r>
            <a:r>
              <a:rPr lang="en-US" sz="170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private final</a:t>
            </a:r>
            <a:r>
              <a:rPr lang="en-US" sz="17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1700" err="1">
                <a:solidFill>
                  <a:srgbClr val="2B91AF"/>
                </a:solidFill>
                <a:latin typeface="monospace"/>
                <a:ea typeface="monospace"/>
                <a:cs typeface="monospace" pitchFamily="34" charset="-120"/>
              </a:rPr>
              <a:t>Barbearia</a:t>
            </a:r>
            <a:r>
              <a:rPr lang="en-US" sz="17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170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barbearia;</a:t>
            </a:r>
            <a:endParaRPr lang="en-US" sz="1700">
              <a:solidFill>
                <a:srgbClr val="000000"/>
              </a:solidFill>
              <a:latin typeface="monospace"/>
              <a:ea typeface="monospace"/>
              <a:cs typeface="Calibri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
    </a:t>
            </a:r>
            <a:r>
              <a:rPr lang="en-US" sz="170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public</a:t>
            </a:r>
            <a:r>
              <a:rPr lang="en-US" sz="17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1700" err="1">
                <a:solidFill>
                  <a:srgbClr val="2B91AF"/>
                </a:solidFill>
                <a:latin typeface="monospace"/>
                <a:ea typeface="monospace"/>
                <a:cs typeface="monospace" pitchFamily="34" charset="-120"/>
              </a:rPr>
              <a:t>Cliente</a:t>
            </a:r>
            <a:r>
              <a:rPr lang="en-US" sz="17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(</a:t>
            </a:r>
            <a:r>
              <a:rPr lang="en-US" sz="170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int</a:t>
            </a:r>
            <a:r>
              <a:rPr lang="en-US" sz="17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170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id,</a:t>
            </a:r>
            <a:r>
              <a:rPr lang="en-US" sz="1700" err="1">
                <a:solidFill>
                  <a:srgbClr val="2B91AF"/>
                </a:solidFill>
                <a:latin typeface="monospace"/>
                <a:ea typeface="monospace"/>
                <a:cs typeface="monospace" pitchFamily="34" charset="-120"/>
              </a:rPr>
              <a:t>Barbearia</a:t>
            </a:r>
            <a:r>
              <a:rPr lang="en-US" sz="17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170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barbearia){</a:t>
            </a:r>
            <a:r>
              <a:rPr lang="en-US" sz="17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
        </a:t>
            </a:r>
            <a:r>
              <a:rPr lang="en-US" sz="170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this</a:t>
            </a:r>
            <a:r>
              <a:rPr lang="en-US" sz="17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.id=id;
        </a:t>
            </a:r>
            <a:r>
              <a:rPr lang="en-US" sz="170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this</a:t>
            </a:r>
            <a:r>
              <a:rPr lang="en-US" sz="170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.barbearia=barbearia;</a:t>
            </a:r>
            <a:r>
              <a:rPr lang="en-US" sz="17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
</a:t>
            </a:r>
            <a:r>
              <a:rPr lang="en-US" sz="170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}</a:t>
            </a:r>
            <a:r>
              <a:rPr lang="en-US" sz="17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
</a:t>
            </a:r>
            <a:r>
              <a:rPr lang="en-US" sz="170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@Override</a:t>
            </a:r>
            <a:endParaRPr lang="en-US" sz="1700">
              <a:latin typeface="monospace"/>
              <a:ea typeface="monospace"/>
              <a:cs typeface="Calibri"/>
            </a:endParaRPr>
          </a:p>
          <a:p>
            <a:pPr>
              <a:lnSpc>
                <a:spcPct val="112000"/>
              </a:lnSpc>
            </a:pPr>
            <a:r>
              <a:rPr lang="en-US" sz="170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public void</a:t>
            </a:r>
            <a:r>
              <a:rPr lang="en-US" sz="170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run(){</a:t>
            </a:r>
          </a:p>
          <a:p>
            <a:pPr>
              <a:lnSpc>
                <a:spcPct val="112000"/>
              </a:lnSpc>
            </a:pPr>
            <a:r>
              <a:rPr lang="en-US" sz="1700" dirty="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barbearia.entrarNaBarbearia</a:t>
            </a:r>
            <a:r>
              <a:rPr lang="en-US" sz="17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(id);</a:t>
            </a:r>
          </a:p>
          <a:p>
            <a:pPr>
              <a:lnSpc>
                <a:spcPct val="112000"/>
              </a:lnSpc>
            </a:pPr>
            <a:r>
              <a:rPr lang="en-US" sz="17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 }
}</a:t>
            </a:r>
            <a:endParaRPr lang="en-US" sz="1700">
              <a:latin typeface="monospace"/>
              <a:ea typeface="monospac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4325" y="302620"/>
            <a:ext cx="8515350" cy="402135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FF"/>
                </a:solidFill>
                <a:latin typeface="monospace" pitchFamily="34" charset="0"/>
                <a:ea typeface="monospace"/>
                <a:cs typeface="monospace" pitchFamily="34" charset="-120"/>
              </a:rPr>
              <a:t>public synchronized void</a:t>
            </a: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entrarNaBarbearia</a:t>
            </a: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(</a:t>
            </a:r>
            <a:r>
              <a:rPr lang="en-US" sz="1250" dirty="0">
                <a:solidFill>
                  <a:srgbClr val="0000FF"/>
                </a:solidFill>
                <a:latin typeface="monospace" pitchFamily="34" charset="0"/>
                <a:ea typeface="monospace"/>
                <a:cs typeface="monospace" pitchFamily="34" charset="-120"/>
              </a:rPr>
              <a:t>int</a:t>
            </a: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 </a:t>
            </a:r>
            <a:r>
              <a:rPr lang="en-US" sz="1250" dirty="0" err="1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clienteId) {</a:t>
            </a: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
    </a:t>
            </a:r>
            <a:r>
              <a:rPr lang="en-US" sz="1250" dirty="0" err="1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System.out.println</a:t>
            </a: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(</a:t>
            </a:r>
            <a:r>
              <a:rPr lang="en-US" sz="1250" dirty="0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"[</a:t>
            </a:r>
            <a:r>
              <a:rPr lang="en-US" sz="1250" dirty="0" err="1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Cliente</a:t>
            </a:r>
            <a:r>
              <a:rPr lang="en-US" sz="1250" dirty="0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 "</a:t>
            </a: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 + </a:t>
            </a:r>
            <a:r>
              <a:rPr lang="en-US" sz="1250" dirty="0" err="1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clienteId</a:t>
            </a: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 + </a:t>
            </a:r>
            <a:r>
              <a:rPr lang="en-US" sz="1250" dirty="0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"] </a:t>
            </a:r>
            <a:r>
              <a:rPr lang="en-US" sz="1250" dirty="0" err="1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Entrou</a:t>
            </a:r>
            <a:r>
              <a:rPr lang="en-US" sz="1250" dirty="0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 </a:t>
            </a:r>
            <a:r>
              <a:rPr lang="en-US" sz="1250" dirty="0" err="1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na</a:t>
            </a:r>
            <a:r>
              <a:rPr lang="en-US" sz="1250" dirty="0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 </a:t>
            </a:r>
            <a:r>
              <a:rPr lang="en-US" sz="1250" dirty="0" err="1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barbearia</a:t>
            </a:r>
            <a:r>
              <a:rPr lang="en-US" sz="1250" dirty="0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."</a:t>
            </a: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);
    </a:t>
            </a:r>
            <a:r>
              <a:rPr lang="en-US" sz="1250" dirty="0">
                <a:solidFill>
                  <a:srgbClr val="0000FF"/>
                </a:solidFill>
                <a:latin typeface="monospace" pitchFamily="34" charset="0"/>
                <a:ea typeface="monospace"/>
                <a:cs typeface="monospace" pitchFamily="34" charset="-120"/>
              </a:rPr>
              <a:t>if</a:t>
            </a: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 (</a:t>
            </a:r>
            <a:r>
              <a:rPr lang="en-US" sz="1250" dirty="0" err="1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clientesEsperando</a:t>
            </a: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 &gt;= </a:t>
            </a:r>
            <a:r>
              <a:rPr lang="en-US" sz="1250" dirty="0" err="1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totalCadeiras) {</a:t>
            </a: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
        </a:t>
            </a:r>
            <a:r>
              <a:rPr lang="en-US" sz="1250" dirty="0" err="1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System.out.println</a:t>
            </a: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(</a:t>
            </a:r>
            <a:r>
              <a:rPr lang="en-US" sz="1250" dirty="0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"[</a:t>
            </a:r>
            <a:r>
              <a:rPr lang="en-US" sz="1250" dirty="0" err="1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Cliente</a:t>
            </a:r>
            <a:r>
              <a:rPr lang="en-US" sz="1250" dirty="0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 "</a:t>
            </a: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 + </a:t>
            </a:r>
            <a:r>
              <a:rPr lang="en-US" sz="1250" dirty="0" err="1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clienteId</a:t>
            </a: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 + </a:t>
            </a:r>
            <a:r>
              <a:rPr lang="en-US" sz="1250" dirty="0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"] </a:t>
            </a:r>
            <a:r>
              <a:rPr lang="en-US" sz="1250" dirty="0" err="1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Barbearia</a:t>
            </a:r>
            <a:r>
              <a:rPr lang="en-US" sz="1250" dirty="0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 </a:t>
            </a:r>
            <a:r>
              <a:rPr lang="en-US" sz="1250" dirty="0" err="1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cheia</a:t>
            </a:r>
            <a:r>
              <a:rPr lang="en-US" sz="1250" dirty="0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! Indo </a:t>
            </a:r>
            <a:r>
              <a:rPr lang="en-US" sz="1250" dirty="0" err="1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embora</a:t>
            </a:r>
            <a:r>
              <a:rPr lang="en-US" sz="1250" dirty="0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..."</a:t>
            </a: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);
        </a:t>
            </a:r>
            <a:r>
              <a:rPr lang="en-US" sz="1250" dirty="0">
                <a:solidFill>
                  <a:srgbClr val="0000FF"/>
                </a:solidFill>
                <a:latin typeface="monospace" pitchFamily="34" charset="0"/>
                <a:ea typeface="monospace"/>
                <a:cs typeface="monospace" pitchFamily="34" charset="-120"/>
              </a:rPr>
              <a:t>return</a:t>
            </a: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;
    }
</a:t>
            </a:r>
            <a:r>
              <a:rPr lang="en-US" sz="1250" dirty="0" err="1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clientesEsperando</a:t>
            </a: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++;
    </a:t>
            </a:r>
            <a:r>
              <a:rPr lang="en-US" sz="1250" dirty="0" err="1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System.out.println</a:t>
            </a: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(</a:t>
            </a:r>
            <a:r>
              <a:rPr lang="en-US" sz="1250" dirty="0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"[</a:t>
            </a:r>
            <a:r>
              <a:rPr lang="en-US" sz="1250" dirty="0" err="1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Cliente</a:t>
            </a:r>
            <a:r>
              <a:rPr lang="en-US" sz="1250" dirty="0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 "</a:t>
            </a: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 + </a:t>
            </a:r>
            <a:r>
              <a:rPr lang="en-US" sz="1250" dirty="0" err="1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clienteId</a:t>
            </a: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 + </a:t>
            </a:r>
            <a:r>
              <a:rPr lang="en-US" sz="1250" dirty="0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"] </a:t>
            </a:r>
            <a:r>
              <a:rPr lang="en-US" sz="1250" dirty="0" err="1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Sentou</a:t>
            </a:r>
            <a:r>
              <a:rPr lang="en-US" sz="1250" dirty="0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-se </a:t>
            </a:r>
            <a:r>
              <a:rPr lang="en-US" sz="1250" dirty="0" err="1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na</a:t>
            </a:r>
            <a:r>
              <a:rPr lang="en-US" sz="1250" dirty="0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 </a:t>
            </a:r>
            <a:r>
              <a:rPr lang="en-US" sz="1250" dirty="0" err="1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cadeira</a:t>
            </a:r>
            <a:r>
              <a:rPr lang="en-US" sz="1250" dirty="0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 de </a:t>
            </a:r>
            <a:r>
              <a:rPr lang="en-US" sz="1250" dirty="0" err="1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espera</a:t>
            </a:r>
            <a:r>
              <a:rPr lang="en-US" sz="1250" dirty="0">
                <a:solidFill>
                  <a:srgbClr val="A31515"/>
                </a:solidFill>
                <a:latin typeface="monospace" pitchFamily="34" charset="0"/>
                <a:ea typeface="monospace"/>
                <a:cs typeface="monospace" pitchFamily="34" charset="-120"/>
              </a:rPr>
              <a:t>."</a:t>
            </a: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);
    </a:t>
            </a:r>
            <a:r>
              <a:rPr lang="en-US" sz="1250" dirty="0" err="1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notifyAll</a:t>
            </a: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(); </a:t>
            </a:r>
            <a:r>
              <a:rPr lang="en-US" sz="1250" dirty="0">
                <a:solidFill>
                  <a:srgbClr val="008000"/>
                </a:solidFill>
                <a:latin typeface="monospace" pitchFamily="34" charset="0"/>
                <a:ea typeface="monospace"/>
                <a:cs typeface="monospace" pitchFamily="34" charset="-120"/>
              </a:rPr>
              <a:t>// </a:t>
            </a:r>
            <a:r>
              <a:rPr lang="en-US" sz="1250" dirty="0" err="1">
                <a:solidFill>
                  <a:srgbClr val="008000"/>
                </a:solidFill>
                <a:latin typeface="monospace" pitchFamily="34" charset="0"/>
                <a:ea typeface="monospace"/>
                <a:cs typeface="monospace" pitchFamily="34" charset="-120"/>
              </a:rPr>
              <a:t>acorda</a:t>
            </a:r>
            <a:r>
              <a:rPr lang="en-US" sz="1250" dirty="0">
                <a:solidFill>
                  <a:srgbClr val="008000"/>
                </a:solidFill>
                <a:latin typeface="monospace" pitchFamily="34" charset="0"/>
                <a:ea typeface="monospace"/>
                <a:cs typeface="monospace" pitchFamily="34" charset="-120"/>
              </a:rPr>
              <a:t> o barbeiro</a:t>
            </a:r>
            <a:endParaRPr lang="en-US" sz="1250" dirty="0">
              <a:ea typeface="monospace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  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FF"/>
                </a:solidFill>
                <a:latin typeface="monospace" pitchFamily="34" charset="0"/>
                <a:ea typeface="monospace"/>
                <a:cs typeface="monospace" pitchFamily="34" charset="-120"/>
              </a:rPr>
              <a:t>try</a:t>
            </a: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 {
        wait(); </a:t>
            </a:r>
            <a:r>
              <a:rPr lang="en-US" sz="1250" dirty="0">
                <a:solidFill>
                  <a:srgbClr val="008000"/>
                </a:solidFill>
                <a:latin typeface="monospace" pitchFamily="34" charset="0"/>
                <a:ea typeface="monospace"/>
                <a:cs typeface="monospace" pitchFamily="34" charset="-120"/>
              </a:rPr>
              <a:t>// </a:t>
            </a:r>
            <a:r>
              <a:rPr lang="en-US" sz="1250" dirty="0" err="1">
                <a:solidFill>
                  <a:srgbClr val="008000"/>
                </a:solidFill>
                <a:latin typeface="monospace" pitchFamily="34" charset="0"/>
                <a:ea typeface="monospace"/>
                <a:cs typeface="monospace" pitchFamily="34" charset="-120"/>
              </a:rPr>
              <a:t>aguarda</a:t>
            </a:r>
            <a:r>
              <a:rPr lang="en-US" sz="1250" dirty="0">
                <a:solidFill>
                  <a:srgbClr val="008000"/>
                </a:solidFill>
                <a:latin typeface="monospace" pitchFamily="34" charset="0"/>
                <a:ea typeface="monospace"/>
                <a:cs typeface="monospace" pitchFamily="34" charset="-120"/>
              </a:rPr>
              <a:t> </a:t>
            </a:r>
            <a:r>
              <a:rPr lang="en-US" sz="1250" dirty="0" err="1">
                <a:solidFill>
                  <a:srgbClr val="008000"/>
                </a:solidFill>
                <a:latin typeface="monospace" pitchFamily="34" charset="0"/>
                <a:ea typeface="monospace"/>
                <a:cs typeface="monospace" pitchFamily="34" charset="-120"/>
              </a:rPr>
              <a:t>atendimento</a:t>
            </a: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
} </a:t>
            </a:r>
            <a:r>
              <a:rPr lang="en-US" sz="1250" dirty="0">
                <a:solidFill>
                  <a:srgbClr val="0000FF"/>
                </a:solidFill>
                <a:latin typeface="monospace" pitchFamily="34" charset="0"/>
                <a:ea typeface="monospace"/>
                <a:cs typeface="monospace" pitchFamily="34" charset="-120"/>
              </a:rPr>
              <a:t>catch</a:t>
            </a: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 (</a:t>
            </a:r>
            <a:r>
              <a:rPr lang="en-US" sz="1250" dirty="0" err="1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InterruptedException</a:t>
            </a: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 e) {
        </a:t>
            </a:r>
            <a:r>
              <a:rPr lang="en-US" sz="1250" dirty="0" err="1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Thread.currentThread</a:t>
            </a:r>
            <a:r>
              <a:rPr lang="en-US" sz="12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().interrupt();
    }
}</a:t>
            </a:r>
            <a:endParaRPr lang="en-US" sz="1250" dirty="0">
              <a:ea typeface="monospac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5763" y="214313"/>
            <a:ext cx="8372475" cy="528637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60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public class</a:t>
            </a:r>
            <a:r>
              <a:rPr lang="en-US" sz="16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monospace"/>
                <a:ea typeface="monospace"/>
                <a:cs typeface="monospace" pitchFamily="34" charset="-120"/>
              </a:rPr>
              <a:t>Barbeiro</a:t>
            </a:r>
            <a:r>
              <a:rPr lang="en-US" sz="16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implements</a:t>
            </a:r>
            <a:r>
              <a:rPr lang="en-US" sz="16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monospace"/>
                <a:ea typeface="monospace"/>
                <a:cs typeface="monospace" pitchFamily="34" charset="-120"/>
              </a:rPr>
              <a:t>Runnable</a:t>
            </a:r>
            <a:r>
              <a:rPr lang="en-US" sz="16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{
</a:t>
            </a:r>
            <a:r>
              <a:rPr lang="en-US" sz="160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private final</a:t>
            </a:r>
            <a:r>
              <a:rPr lang="en-US" sz="16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1600" dirty="0" err="1">
                <a:solidFill>
                  <a:srgbClr val="2B91AF"/>
                </a:solidFill>
                <a:latin typeface="monospace"/>
                <a:ea typeface="monospace"/>
                <a:cs typeface="monospace" pitchFamily="34" charset="-120"/>
              </a:rPr>
              <a:t>Barbearia</a:t>
            </a:r>
            <a:r>
              <a:rPr lang="en-US" sz="16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barbearia;</a:t>
            </a:r>
            <a:r>
              <a:rPr lang="en-US" sz="16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
</a:t>
            </a:r>
            <a:r>
              <a:rPr lang="en-US" sz="160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monospace"/>
                <a:ea typeface="monospace"/>
                <a:cs typeface="monospace" pitchFamily="34" charset="-120"/>
              </a:rPr>
              <a:t>Barbeiro</a:t>
            </a:r>
            <a:r>
              <a:rPr lang="en-US" sz="16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(</a:t>
            </a:r>
            <a:r>
              <a:rPr lang="en-US" sz="1600" dirty="0" err="1">
                <a:solidFill>
                  <a:srgbClr val="2B91AF"/>
                </a:solidFill>
                <a:latin typeface="monospace"/>
                <a:ea typeface="monospace"/>
                <a:cs typeface="monospace" pitchFamily="34" charset="-120"/>
              </a:rPr>
              <a:t>Barbearia</a:t>
            </a:r>
            <a:r>
              <a:rPr lang="en-US" sz="16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barbearia</a:t>
            </a:r>
            <a:r>
              <a:rPr lang="en-US" sz="16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) {</a:t>
            </a:r>
            <a:endParaRPr lang="en-US" sz="1600" dirty="0">
              <a:solidFill>
                <a:srgbClr val="000000"/>
              </a:solidFill>
              <a:latin typeface="monospace"/>
              <a:ea typeface="monospace"/>
              <a:cs typeface="Calibri" panose="020F0502020204030204"/>
            </a:endParaRPr>
          </a:p>
          <a:p>
            <a:pPr>
              <a:lnSpc>
                <a:spcPct val="128000"/>
              </a:lnSpc>
            </a:pPr>
            <a:r>
              <a:rPr lang="en-US" sz="160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 </a:t>
            </a:r>
            <a:r>
              <a:rPr lang="en-US" sz="1600" dirty="0" err="1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this</a:t>
            </a:r>
            <a:r>
              <a:rPr lang="en-US" sz="1600" dirty="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.barbearia</a:t>
            </a:r>
            <a:r>
              <a:rPr lang="en-US" sz="16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barbearia</a:t>
            </a:r>
            <a:r>
              <a:rPr lang="en-US" sz="16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; }
</a:t>
            </a:r>
            <a:r>
              <a:rPr lang="en-US" sz="160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@Override</a:t>
            </a:r>
            <a:r>
              <a:rPr lang="en-US" sz="16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
</a:t>
            </a:r>
            <a:r>
              <a:rPr lang="en-US" sz="160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public void</a:t>
            </a:r>
            <a:r>
              <a:rPr lang="en-US" sz="16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run() {
</a:t>
            </a:r>
            <a:r>
              <a:rPr lang="en-US" sz="160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(!</a:t>
            </a:r>
            <a:r>
              <a:rPr lang="en-US" sz="1600" dirty="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Thread.currentThread</a:t>
            </a:r>
            <a:r>
              <a:rPr lang="en-US" sz="16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().</a:t>
            </a:r>
            <a:r>
              <a:rPr lang="en-US" sz="1600" dirty="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isInterrupted</a:t>
            </a:r>
            <a:r>
              <a:rPr lang="en-US" sz="16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()) {
    </a:t>
            </a:r>
            <a:r>
              <a:rPr lang="en-US" sz="1600" dirty="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barbearia.cortarCabelo</a:t>
            </a:r>
            <a:r>
              <a:rPr lang="en-US" sz="16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();
    </a:t>
            </a:r>
            <a:r>
              <a:rPr lang="en-US" sz="160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try</a:t>
            </a:r>
            <a:r>
              <a:rPr lang="en-US" sz="16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{ </a:t>
            </a:r>
            <a:r>
              <a:rPr lang="en-US" sz="1600" dirty="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Thread.sleep</a:t>
            </a:r>
            <a:r>
              <a:rPr lang="en-US" sz="16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(2000); } </a:t>
            </a:r>
            <a:r>
              <a:rPr lang="en-US" sz="160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catch</a:t>
            </a:r>
            <a:r>
              <a:rPr lang="en-US" sz="16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InterruptedException</a:t>
            </a:r>
            <a:r>
              <a:rPr lang="en-US" sz="16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e) {
        </a:t>
            </a:r>
            <a:r>
              <a:rPr lang="en-US" sz="1600" dirty="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Thread.currentThread</a:t>
            </a:r>
            <a:r>
              <a:rPr lang="en-US" sz="16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().interrupt(); </a:t>
            </a:r>
            <a:r>
              <a:rPr lang="en-US" sz="160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break</a:t>
            </a:r>
            <a:r>
              <a:rPr lang="en-US" sz="160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;
    }
}
}
}</a:t>
            </a:r>
            <a:endParaRPr lang="en-US" sz="1600">
              <a:latin typeface="monospace"/>
              <a:ea typeface="monospace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4325" y="348732"/>
            <a:ext cx="8515350" cy="444603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public synchronized void</a:t>
            </a:r>
            <a:r>
              <a:rPr lang="en-US" sz="140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cortarCabelo() {
    </a:t>
            </a:r>
            <a:r>
              <a:rPr lang="en-US" sz="1400" dirty="0">
                <a:solidFill>
                  <a:srgbClr val="0000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(clientesEsperando == 0) {
        </a:t>
            </a:r>
            <a:r>
              <a:rPr lang="en-US" sz="1400" dirty="0">
                <a:solidFill>
                  <a:srgbClr val="0000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try</a:t>
            </a:r>
            <a:r>
              <a:rPr lang="en-US" sz="140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{
            System.out.println(</a:t>
            </a:r>
            <a:r>
              <a:rPr lang="en-US" sz="1400" dirty="0">
                <a:solidFill>
                  <a:srgbClr val="A3151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"[Barbeiro] Sem clientes. Dormindo..."</a:t>
            </a:r>
            <a:r>
              <a:rPr lang="en-US" sz="140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);
            wait(); </a:t>
            </a:r>
            <a:r>
              <a:rPr lang="en-US" sz="1400" dirty="0">
                <a:solidFill>
                  <a:srgbClr val="008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libera o monitor e bloqueia</a:t>
            </a:r>
            <a:r>
              <a:rPr lang="en-US" sz="140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} </a:t>
            </a:r>
            <a:r>
              <a:rPr lang="en-US" sz="1400" dirty="0">
                <a:solidFill>
                  <a:srgbClr val="0000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catch</a:t>
            </a:r>
            <a:r>
              <a:rPr lang="en-US" sz="140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(InterruptedException e) {
            Thread.currentThread().interrupt(); </a:t>
            </a:r>
            <a:r>
              <a:rPr lang="en-US" sz="1400" dirty="0">
                <a:solidFill>
                  <a:srgbClr val="0000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;
        }
    }
clientesEsperando--;
    System.out.println(</a:t>
            </a:r>
            <a:r>
              <a:rPr lang="en-US" sz="1400" dirty="0">
                <a:solidFill>
                  <a:srgbClr val="A3151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"[Barbeiro] Cortando cabelo de um cliente."</a:t>
            </a:r>
            <a:r>
              <a:rPr lang="en-US" sz="1400" dirty="0">
                <a:solidFill>
                  <a:srgbClr val="00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);
    notifyAll();
}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519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" y="-2754"/>
            <a:ext cx="8972550" cy="486312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>
              <a:lnSpc>
                <a:spcPct val="96000"/>
              </a:lnSpc>
            </a:pPr>
            <a:r>
              <a:rPr lang="en-US" sz="85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public class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850" dirty="0">
                <a:solidFill>
                  <a:srgbClr val="2B91AF"/>
                </a:solidFill>
                <a:latin typeface="monospace"/>
                <a:ea typeface="monospace"/>
                <a:cs typeface="monospace" pitchFamily="34" charset="-120"/>
              </a:rPr>
              <a:t>Main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{
</a:t>
            </a:r>
            <a:r>
              <a:rPr lang="en-US" sz="85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    public static void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main(String[] </a:t>
            </a:r>
            <a:r>
              <a:rPr lang="en-US" sz="850" dirty="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args) {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
        </a:t>
            </a:r>
            <a:r>
              <a:rPr lang="en-US" sz="850" dirty="0">
                <a:solidFill>
                  <a:srgbClr val="008000"/>
                </a:solidFill>
                <a:latin typeface="monospace"/>
                <a:ea typeface="monospace"/>
                <a:cs typeface="monospace" pitchFamily="34" charset="-120"/>
              </a:rPr>
              <a:t>// </a:t>
            </a:r>
            <a:r>
              <a:rPr lang="en-US" sz="850" dirty="0" err="1">
                <a:solidFill>
                  <a:srgbClr val="008000"/>
                </a:solidFill>
                <a:latin typeface="monospace"/>
                <a:ea typeface="monospace"/>
                <a:cs typeface="monospace" pitchFamily="34" charset="-120"/>
              </a:rPr>
              <a:t>Barbearia</a:t>
            </a:r>
            <a:r>
              <a:rPr lang="en-US" sz="850" dirty="0">
                <a:solidFill>
                  <a:srgbClr val="008000"/>
                </a:solidFill>
                <a:latin typeface="monospace"/>
                <a:ea typeface="monospace"/>
                <a:cs typeface="monospace" pitchFamily="34" charset="-120"/>
              </a:rPr>
              <a:t> com 3 </a:t>
            </a:r>
            <a:r>
              <a:rPr lang="en-US" sz="850" dirty="0" err="1">
                <a:solidFill>
                  <a:srgbClr val="008000"/>
                </a:solidFill>
                <a:latin typeface="monospace"/>
                <a:ea typeface="monospace"/>
                <a:cs typeface="monospace" pitchFamily="34" charset="-120"/>
              </a:rPr>
              <a:t>cadeiras</a:t>
            </a:r>
            <a:r>
              <a:rPr lang="en-US" sz="850" dirty="0">
                <a:solidFill>
                  <a:srgbClr val="008000"/>
                </a:solidFill>
                <a:latin typeface="monospace"/>
                <a:ea typeface="monospace"/>
                <a:cs typeface="monospace" pitchFamily="34" charset="-120"/>
              </a:rPr>
              <a:t> de </a:t>
            </a:r>
            <a:r>
              <a:rPr lang="en-US" sz="850" dirty="0" err="1">
                <a:solidFill>
                  <a:srgbClr val="008000"/>
                </a:solidFill>
                <a:latin typeface="monospace"/>
                <a:ea typeface="monospace"/>
                <a:cs typeface="monospace" pitchFamily="34" charset="-120"/>
              </a:rPr>
              <a:t>espera</a:t>
            </a:r>
            <a:endParaRPr lang="en-US" sz="850" dirty="0" err="1">
              <a:latin typeface="monospace"/>
              <a:ea typeface="monospace"/>
            </a:endParaRPr>
          </a:p>
          <a:p>
            <a:pPr>
              <a:lnSpc>
                <a:spcPct val="96000"/>
              </a:lnSpc>
            </a:pPr>
            <a:r>
              <a:rPr lang="en-US" sz="850" dirty="0">
                <a:solidFill>
                  <a:srgbClr val="2B91AF"/>
                </a:solidFill>
                <a:latin typeface="monospace"/>
                <a:ea typeface="monospace"/>
                <a:cs typeface="monospace" pitchFamily="34" charset="-120"/>
              </a:rPr>
              <a:t>        </a:t>
            </a:r>
            <a:r>
              <a:rPr lang="en-US" sz="850" err="1">
                <a:solidFill>
                  <a:srgbClr val="2B91AF"/>
                </a:solidFill>
                <a:latin typeface="monospace"/>
                <a:ea typeface="monospace"/>
                <a:cs typeface="monospace" pitchFamily="34" charset="-120"/>
              </a:rPr>
              <a:t>Barbearia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85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barbearia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= </a:t>
            </a:r>
            <a:r>
              <a:rPr lang="en-US" sz="85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new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850" err="1">
                <a:solidFill>
                  <a:srgbClr val="2B91AF"/>
                </a:solidFill>
                <a:latin typeface="monospace"/>
                <a:ea typeface="monospace"/>
                <a:cs typeface="monospace" pitchFamily="34" charset="-120"/>
              </a:rPr>
              <a:t>Barbearia</a:t>
            </a:r>
            <a:r>
              <a:rPr lang="en-US" sz="85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(3);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
</a:t>
            </a:r>
            <a:r>
              <a:rPr lang="en-US" sz="850" dirty="0">
                <a:solidFill>
                  <a:srgbClr val="008000"/>
                </a:solidFill>
                <a:latin typeface="monospace"/>
                <a:ea typeface="monospace"/>
                <a:cs typeface="monospace" pitchFamily="34" charset="-120"/>
              </a:rPr>
              <a:t>        // </a:t>
            </a:r>
            <a:r>
              <a:rPr lang="en-US" sz="850" err="1">
                <a:solidFill>
                  <a:srgbClr val="008000"/>
                </a:solidFill>
                <a:latin typeface="monospace"/>
                <a:ea typeface="monospace"/>
                <a:cs typeface="monospace" pitchFamily="34" charset="-120"/>
              </a:rPr>
              <a:t>Inicia</a:t>
            </a:r>
            <a:r>
              <a:rPr lang="en-US" sz="850">
                <a:solidFill>
                  <a:srgbClr val="008000"/>
                </a:solidFill>
                <a:latin typeface="monospace"/>
                <a:ea typeface="monospace"/>
                <a:cs typeface="monospace" pitchFamily="34" charset="-120"/>
              </a:rPr>
              <a:t> a thread do barbeiro</a:t>
            </a:r>
            <a:endParaRPr lang="en-US" sz="850">
              <a:latin typeface="monospace"/>
              <a:ea typeface="monospace"/>
            </a:endParaRPr>
          </a:p>
          <a:p>
            <a:pPr>
              <a:lnSpc>
                <a:spcPct val="96000"/>
              </a:lnSpc>
            </a:pPr>
            <a:r>
              <a:rPr lang="en-US" sz="850" dirty="0">
                <a:solidFill>
                  <a:srgbClr val="2B91AF"/>
                </a:solidFill>
                <a:latin typeface="monospace"/>
                <a:ea typeface="monospace"/>
                <a:cs typeface="monospace" pitchFamily="34" charset="-120"/>
              </a:rPr>
              <a:t>        Thread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85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threadBarbeiro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= </a:t>
            </a:r>
            <a:r>
              <a:rPr lang="en-US" sz="85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new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850" dirty="0">
                <a:solidFill>
                  <a:srgbClr val="2B91AF"/>
                </a:solidFill>
                <a:latin typeface="monospace"/>
                <a:ea typeface="monospace"/>
                <a:cs typeface="monospace" pitchFamily="34" charset="-120"/>
              </a:rPr>
              <a:t>Thread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(</a:t>
            </a:r>
            <a:r>
              <a:rPr lang="en-US" sz="85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new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850" dirty="0">
                <a:solidFill>
                  <a:srgbClr val="2B91AF"/>
                </a:solidFill>
                <a:latin typeface="monospace"/>
                <a:ea typeface="monospace"/>
                <a:cs typeface="monospace" pitchFamily="34" charset="-120"/>
              </a:rPr>
              <a:t>Barbeiro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(</a:t>
            </a:r>
            <a:r>
              <a:rPr lang="en-US" sz="85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barbearia));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
        </a:t>
            </a:r>
            <a:r>
              <a:rPr lang="en-US" sz="85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threadBarbeiro.start();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
</a:t>
            </a:r>
            <a:r>
              <a:rPr lang="en-US" sz="850" dirty="0">
                <a:solidFill>
                  <a:srgbClr val="008000"/>
                </a:solidFill>
                <a:latin typeface="monospace"/>
                <a:ea typeface="monospace"/>
                <a:cs typeface="monospace" pitchFamily="34" charset="-120"/>
              </a:rPr>
              <a:t>        // Gera 10 </a:t>
            </a:r>
            <a:r>
              <a:rPr lang="en-US" sz="850">
                <a:solidFill>
                  <a:srgbClr val="008000"/>
                </a:solidFill>
                <a:latin typeface="monospace"/>
                <a:ea typeface="monospace"/>
                <a:cs typeface="monospace" pitchFamily="34" charset="-120"/>
              </a:rPr>
              <a:t>clientes</a:t>
            </a:r>
            <a:endParaRPr lang="en-US" sz="850">
              <a:latin typeface="monospace"/>
              <a:ea typeface="monospace"/>
            </a:endParaRPr>
          </a:p>
          <a:p>
            <a:pPr>
              <a:lnSpc>
                <a:spcPct val="96000"/>
              </a:lnSpc>
            </a:pPr>
            <a:r>
              <a:rPr lang="en-US" sz="850" dirty="0">
                <a:solidFill>
                  <a:srgbClr val="2B91AF"/>
                </a:solidFill>
                <a:latin typeface="monospace"/>
                <a:ea typeface="monospace"/>
                <a:cs typeface="monospace" pitchFamily="34" charset="-120"/>
              </a:rPr>
              <a:t>        Thread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85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gerador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= </a:t>
            </a:r>
            <a:r>
              <a:rPr lang="en-US" sz="85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new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850" dirty="0">
                <a:solidFill>
                  <a:srgbClr val="2B91AF"/>
                </a:solidFill>
                <a:latin typeface="monospace"/>
                <a:ea typeface="monospace"/>
                <a:cs typeface="monospace" pitchFamily="34" charset="-120"/>
              </a:rPr>
              <a:t>Thread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(</a:t>
            </a:r>
            <a:r>
              <a:rPr lang="en-US" sz="85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new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850" dirty="0">
                <a:solidFill>
                  <a:srgbClr val="2B91AF"/>
                </a:solidFill>
                <a:latin typeface="monospace"/>
                <a:ea typeface="monospace"/>
                <a:cs typeface="monospace" pitchFamily="34" charset="-120"/>
              </a:rPr>
              <a:t>Runnable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() {
        </a:t>
            </a:r>
            <a:r>
              <a:rPr lang="en-US" sz="85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@Override</a:t>
            </a:r>
            <a:r>
              <a:rPr lang="en-US" sz="850" dirty="0">
                <a:solidFill>
                  <a:srgbClr val="000000"/>
                </a:solidFill>
                <a:latin typeface="monospace" pitchFamily="34" charset="0"/>
                <a:ea typeface="monospace"/>
                <a:cs typeface="monospace" pitchFamily="34" charset="-120"/>
              </a:rPr>
              <a:t>  </a:t>
            </a:r>
            <a:endParaRPr lang="en-US" sz="850">
              <a:ea typeface="Calibri"/>
              <a:cs typeface="Calibri"/>
            </a:endParaRPr>
          </a:p>
          <a:p>
            <a:pPr>
              <a:lnSpc>
                <a:spcPct val="96000"/>
              </a:lnSpc>
            </a:pPr>
            <a:r>
              <a:rPr lang="en-US" sz="85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        public void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run() {
        </a:t>
            </a:r>
            <a:r>
              <a:rPr lang="en-US" sz="85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int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850" dirty="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idCliente = 1;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
</a:t>
            </a:r>
            <a:r>
              <a:rPr lang="en-US" sz="85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        while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(</a:t>
            </a:r>
            <a:r>
              <a:rPr lang="en-US" sz="850" dirty="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idCliente &lt;= 10) {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
             </a:t>
            </a:r>
            <a:r>
              <a:rPr lang="en-US" sz="850" dirty="0">
                <a:solidFill>
                  <a:srgbClr val="2B91AF"/>
                </a:solidFill>
                <a:latin typeface="monospace"/>
                <a:ea typeface="monospace"/>
                <a:cs typeface="monospace" pitchFamily="34" charset="-120"/>
              </a:rPr>
              <a:t>Thread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850" dirty="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threadCliente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= </a:t>
            </a:r>
            <a:r>
              <a:rPr lang="en-US" sz="85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new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850" dirty="0">
                <a:solidFill>
                  <a:srgbClr val="2B91AF"/>
                </a:solidFill>
                <a:latin typeface="monospace"/>
                <a:ea typeface="monospace"/>
                <a:cs typeface="monospace" pitchFamily="34" charset="-120"/>
              </a:rPr>
              <a:t>Thread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(</a:t>
            </a:r>
            <a:r>
              <a:rPr lang="en-US" sz="85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new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850" dirty="0" err="1">
                <a:solidFill>
                  <a:srgbClr val="2B91AF"/>
                </a:solidFill>
                <a:latin typeface="monospace"/>
                <a:ea typeface="monospace"/>
                <a:cs typeface="monospace" pitchFamily="34" charset="-120"/>
              </a:rPr>
              <a:t>Cliente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(</a:t>
            </a:r>
            <a:r>
              <a:rPr lang="en-US" sz="850" dirty="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idCliente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, </a:t>
            </a:r>
            <a:r>
              <a:rPr lang="en-US" sz="850" dirty="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barbearia));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
             </a:t>
            </a:r>
            <a:r>
              <a:rPr lang="en-US" sz="850" dirty="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threadCliente.start();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
             </a:t>
            </a:r>
            <a:r>
              <a:rPr lang="en-US" sz="850" dirty="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idCliente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++;
</a:t>
            </a:r>
            <a:r>
              <a:rPr lang="en-US" sz="85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             </a:t>
            </a:r>
            <a:endParaRPr lang="en-US" sz="850" err="1">
              <a:solidFill>
                <a:srgbClr val="000000"/>
              </a:solidFill>
              <a:latin typeface="monospace"/>
              <a:ea typeface="monospace"/>
              <a:cs typeface="monospace" pitchFamily="34" charset="-120"/>
            </a:endParaRPr>
          </a:p>
          <a:p>
            <a:pPr>
              <a:lnSpc>
                <a:spcPct val="96000"/>
              </a:lnSpc>
            </a:pPr>
            <a:r>
              <a:rPr lang="en-US" sz="85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             try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{
                 </a:t>
            </a:r>
            <a:r>
              <a:rPr lang="en-US" sz="850" dirty="0">
                <a:solidFill>
                  <a:srgbClr val="008000"/>
                </a:solidFill>
                <a:latin typeface="monospace"/>
                <a:ea typeface="monospace"/>
                <a:cs typeface="monospace" pitchFamily="34" charset="-120"/>
              </a:rPr>
              <a:t>// </a:t>
            </a:r>
            <a:r>
              <a:rPr lang="en-US" sz="850" dirty="0" err="1">
                <a:solidFill>
                  <a:srgbClr val="008000"/>
                </a:solidFill>
                <a:latin typeface="monospace"/>
                <a:ea typeface="monospace"/>
                <a:cs typeface="monospace" pitchFamily="34" charset="-120"/>
              </a:rPr>
              <a:t>Intervalo</a:t>
            </a:r>
            <a:r>
              <a:rPr lang="en-US" sz="850" dirty="0">
                <a:solidFill>
                  <a:srgbClr val="008000"/>
                </a:solidFill>
                <a:latin typeface="monospace"/>
                <a:ea typeface="monospace"/>
                <a:cs typeface="monospace" pitchFamily="34" charset="-120"/>
              </a:rPr>
              <a:t> de 1.5 </a:t>
            </a:r>
            <a:r>
              <a:rPr lang="en-US" sz="850" dirty="0" err="1">
                <a:solidFill>
                  <a:srgbClr val="008000"/>
                </a:solidFill>
                <a:latin typeface="monospace"/>
                <a:ea typeface="monospace"/>
                <a:cs typeface="monospace" pitchFamily="34" charset="-120"/>
              </a:rPr>
              <a:t>segundos</a:t>
            </a:r>
            <a:r>
              <a:rPr lang="en-US" sz="850" dirty="0">
                <a:solidFill>
                  <a:srgbClr val="008000"/>
                </a:solidFill>
                <a:latin typeface="monospace"/>
                <a:ea typeface="monospace"/>
                <a:cs typeface="monospace" pitchFamily="34" charset="-120"/>
              </a:rPr>
              <a:t> de </a:t>
            </a:r>
            <a:r>
              <a:rPr lang="en-US" sz="850" dirty="0" err="1">
                <a:solidFill>
                  <a:srgbClr val="008000"/>
                </a:solidFill>
                <a:latin typeface="monospace"/>
                <a:ea typeface="monospace"/>
                <a:cs typeface="monospace" pitchFamily="34" charset="-120"/>
              </a:rPr>
              <a:t>chegada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             </a:t>
            </a:r>
            <a:endParaRPr lang="en-US" sz="850" dirty="0">
              <a:latin typeface="monospace"/>
              <a:ea typeface="monospace"/>
            </a:endParaRPr>
          </a:p>
          <a:p>
            <a:pPr>
              <a:lnSpc>
                <a:spcPct val="96000"/>
              </a:lnSpc>
            </a:pPr>
            <a:r>
              <a:rPr lang="en-US" sz="850" dirty="0">
                <a:solidFill>
                  <a:srgbClr val="2B91AF"/>
                </a:solidFill>
                <a:latin typeface="monospace"/>
                <a:ea typeface="monospace"/>
                <a:cs typeface="monospace" pitchFamily="34" charset="-120"/>
              </a:rPr>
              <a:t>                 </a:t>
            </a:r>
            <a:r>
              <a:rPr lang="en-US" sz="850" dirty="0" err="1">
                <a:solidFill>
                  <a:srgbClr val="2B91AF"/>
                </a:solidFill>
                <a:latin typeface="monospace"/>
                <a:ea typeface="monospace"/>
                <a:cs typeface="monospace" pitchFamily="34" charset="-120"/>
              </a:rPr>
              <a:t>Thread</a:t>
            </a:r>
            <a:r>
              <a:rPr lang="en-US" sz="850" dirty="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.sleep(1500);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
             } </a:t>
            </a:r>
            <a:r>
              <a:rPr lang="en-US" sz="85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catch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(</a:t>
            </a:r>
            <a:r>
              <a:rPr lang="en-US" sz="850" dirty="0" err="1">
                <a:solidFill>
                  <a:srgbClr val="2B91AF"/>
                </a:solidFill>
                <a:latin typeface="monospace"/>
                <a:ea typeface="monospace"/>
                <a:cs typeface="monospace" pitchFamily="34" charset="-120"/>
              </a:rPr>
              <a:t>InterruptedException</a:t>
            </a:r>
            <a:r>
              <a:rPr lang="en-US" sz="850" dirty="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 e) {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
                 </a:t>
            </a:r>
            <a:r>
              <a:rPr lang="en-US" sz="850" dirty="0" err="1">
                <a:solidFill>
                  <a:srgbClr val="2B91AF"/>
                </a:solidFill>
                <a:latin typeface="monospace"/>
                <a:ea typeface="monospace"/>
                <a:cs typeface="monospace" pitchFamily="34" charset="-120"/>
              </a:rPr>
              <a:t>Thread</a:t>
            </a:r>
            <a:r>
              <a:rPr lang="en-US" sz="850" dirty="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.currentThread().interrupt();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
                 </a:t>
            </a:r>
            <a:r>
              <a:rPr lang="en-US" sz="850" dirty="0">
                <a:solidFill>
                  <a:srgbClr val="0000FF"/>
                </a:solidFill>
                <a:latin typeface="monospace"/>
                <a:ea typeface="monospace"/>
                <a:cs typeface="monospace" pitchFamily="34" charset="-120"/>
              </a:rPr>
              <a:t>break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;
             }
                }
       </a:t>
            </a:r>
            <a:r>
              <a:rPr lang="en-US" sz="850" dirty="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System.out.println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(</a:t>
            </a:r>
            <a:r>
              <a:rPr lang="en-US" sz="850" dirty="0">
                <a:solidFill>
                  <a:srgbClr val="A31515"/>
                </a:solidFill>
                <a:latin typeface="monospace"/>
                <a:ea typeface="monospace"/>
                <a:cs typeface="monospace" pitchFamily="34" charset="-120"/>
              </a:rPr>
              <a:t>"=== Todos </a:t>
            </a:r>
            <a:r>
              <a:rPr lang="en-US" sz="850" dirty="0" err="1">
                <a:solidFill>
                  <a:srgbClr val="A31515"/>
                </a:solidFill>
                <a:latin typeface="monospace"/>
                <a:ea typeface="monospace"/>
                <a:cs typeface="monospace" pitchFamily="34" charset="-120"/>
              </a:rPr>
              <a:t>os</a:t>
            </a:r>
            <a:r>
              <a:rPr lang="en-US" sz="850" dirty="0">
                <a:solidFill>
                  <a:srgbClr val="A31515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850" dirty="0" err="1">
                <a:solidFill>
                  <a:srgbClr val="A31515"/>
                </a:solidFill>
                <a:latin typeface="monospace"/>
                <a:ea typeface="monospace"/>
                <a:cs typeface="monospace" pitchFamily="34" charset="-120"/>
              </a:rPr>
              <a:t>clientes</a:t>
            </a:r>
            <a:r>
              <a:rPr lang="en-US" sz="850" dirty="0">
                <a:solidFill>
                  <a:srgbClr val="A31515"/>
                </a:solidFill>
                <a:latin typeface="monospace"/>
                <a:ea typeface="monospace"/>
                <a:cs typeface="monospace" pitchFamily="34" charset="-120"/>
              </a:rPr>
              <a:t> do </a:t>
            </a:r>
            <a:r>
              <a:rPr lang="en-US" sz="850" dirty="0" err="1">
                <a:solidFill>
                  <a:srgbClr val="A31515"/>
                </a:solidFill>
                <a:latin typeface="monospace"/>
                <a:ea typeface="monospace"/>
                <a:cs typeface="monospace" pitchFamily="34" charset="-120"/>
              </a:rPr>
              <a:t>dia</a:t>
            </a:r>
            <a:r>
              <a:rPr lang="en-US" sz="850" dirty="0">
                <a:solidFill>
                  <a:srgbClr val="A31515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850" dirty="0" err="1">
                <a:solidFill>
                  <a:srgbClr val="A31515"/>
                </a:solidFill>
                <a:latin typeface="monospace"/>
                <a:ea typeface="monospace"/>
                <a:cs typeface="monospace" pitchFamily="34" charset="-120"/>
              </a:rPr>
              <a:t>já</a:t>
            </a:r>
            <a:r>
              <a:rPr lang="en-US" sz="850" dirty="0">
                <a:solidFill>
                  <a:srgbClr val="A31515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850" dirty="0" err="1">
                <a:solidFill>
                  <a:srgbClr val="A31515"/>
                </a:solidFill>
                <a:latin typeface="monospace"/>
                <a:ea typeface="monospace"/>
                <a:cs typeface="monospace" pitchFamily="34" charset="-120"/>
              </a:rPr>
              <a:t>foram</a:t>
            </a:r>
            <a:r>
              <a:rPr lang="en-US" sz="850" dirty="0">
                <a:solidFill>
                  <a:srgbClr val="A31515"/>
                </a:solidFill>
                <a:latin typeface="monospace"/>
                <a:ea typeface="monospace"/>
                <a:cs typeface="monospace" pitchFamily="34" charset="-120"/>
              </a:rPr>
              <a:t> </a:t>
            </a:r>
            <a:r>
              <a:rPr lang="en-US" sz="850" dirty="0" err="1">
                <a:solidFill>
                  <a:srgbClr val="A31515"/>
                </a:solidFill>
                <a:latin typeface="monospace"/>
                <a:ea typeface="monospace"/>
                <a:cs typeface="monospace" pitchFamily="34" charset="-120"/>
              </a:rPr>
              <a:t>gerados</a:t>
            </a:r>
            <a:r>
              <a:rPr lang="en-US" sz="850" dirty="0">
                <a:solidFill>
                  <a:srgbClr val="A31515"/>
                </a:solidFill>
                <a:latin typeface="monospace"/>
                <a:ea typeface="monospace"/>
                <a:cs typeface="monospace" pitchFamily="34" charset="-120"/>
              </a:rPr>
              <a:t> ==="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);
     }
 });
      </a:t>
            </a:r>
            <a:r>
              <a:rPr lang="en-US" sz="850" dirty="0" err="1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gerador.start</a:t>
            </a:r>
            <a:r>
              <a:rPr lang="en-US" sz="850" dirty="0">
                <a:solidFill>
                  <a:srgbClr val="000000"/>
                </a:solidFill>
                <a:latin typeface="monospace"/>
                <a:ea typeface="monospace"/>
                <a:cs typeface="monospace" pitchFamily="34" charset="-120"/>
              </a:rPr>
              <a:t>();
    }
}</a:t>
            </a:r>
            <a:endParaRPr lang="en-US" sz="850" dirty="0">
              <a:latin typeface="monospace"/>
              <a:ea typeface="monospace"/>
            </a:endParaRPr>
          </a:p>
        </p:txBody>
      </p:sp>
    </p:spTree>
    <p:extLst>
      <p:ext uri="{BB962C8B-B14F-4D97-AF65-F5344CB8AC3E}">
        <p14:creationId xmlns:p14="http://schemas.microsoft.com/office/powerpoint/2010/main" val="1207348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Apresentação na tela (16:9)</PresentationFormat>
  <Paragraphs>0</Paragraphs>
  <Slides>5</Slides>
  <Notes>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6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60</cp:revision>
  <dcterms:created xsi:type="dcterms:W3CDTF">2026-06-02T19:10:55Z</dcterms:created>
  <dcterms:modified xsi:type="dcterms:W3CDTF">2026-06-02T19:25:45Z</dcterms:modified>
</cp:coreProperties>
</file>