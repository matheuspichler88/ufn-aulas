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jpeg" ContentType="image/jpe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qu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pa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ra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ov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er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sli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BB7B5BB-8870-4714-8FEC-D718308D0BAC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1FC941-84BC-423A-9C63-6DD8F7AB30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39E57F-D7A3-44B3-8D40-C44B78FCDF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5DC454-BDDD-4A3B-B054-A5F0EAD815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F2DB93-3BC4-443A-B44F-EDC70CFE89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5787B3-D28B-487B-80B3-D9AECEDE13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to 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36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428760" y="571680"/>
            <a:ext cx="371412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501"/>
              </a:lnSpc>
              <a:tabLst>
                <a:tab algn="l" pos="0"/>
              </a:tabLst>
            </a:pPr>
            <a:r>
              <a:rPr b="1" lang="en-US" sz="3730" spc="-1" strike="noStrike">
                <a:solidFill>
                  <a:srgbClr val="000000"/>
                </a:solidFill>
                <a:latin typeface="Calibri"/>
              </a:rPr>
              <a:t>Análise do Modelo Emergency Department</a:t>
            </a:r>
            <a:endParaRPr b="0" lang="pt-BR" sz="3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428760" y="3006000"/>
            <a:ext cx="371412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546e7a"/>
                </a:solidFill>
                <a:latin typeface="Calibri"/>
              </a:rPr>
              <a:t>Simulação de Pronto-Socorro com AnyLogic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2261520" y="4088160"/>
            <a:ext cx="4788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412560" y="4338000"/>
            <a:ext cx="62136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70" spc="-1" strike="noStrike">
                <a:solidFill>
                  <a:srgbClr val="333333"/>
                </a:solidFill>
                <a:latin typeface="Calibri"/>
              </a:rPr>
              <a:t>Andrisa,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1118160" y="4338000"/>
            <a:ext cx="66564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70" spc="-1" strike="noStrike">
                <a:solidFill>
                  <a:srgbClr val="333333"/>
                </a:solidFill>
                <a:latin typeface="Calibri"/>
              </a:rPr>
              <a:t>Gustavo,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848600" y="4338000"/>
            <a:ext cx="10314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70" spc="-1" strike="noStrike">
                <a:solidFill>
                  <a:srgbClr val="333333"/>
                </a:solidFill>
                <a:latin typeface="Calibri"/>
              </a:rPr>
              <a:t>Matheus Dias</a:t>
            </a:r>
            <a:endParaRPr b="0" lang="pt-BR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17" name="Shape 0"/>
          <p:cNvSpPr/>
          <p:nvPr/>
        </p:nvSpPr>
        <p:spPr>
          <a:xfrm>
            <a:off x="0" y="-36720"/>
            <a:ext cx="9143280" cy="12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0" y="1158120"/>
            <a:ext cx="9143280" cy="648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2105280" y="395640"/>
            <a:ext cx="49327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00000"/>
                </a:solidFill>
                <a:latin typeface="Calibri"/>
              </a:rPr>
              <a:t>O Sistema e o Fluxo Operacional</a:t>
            </a:r>
            <a:endParaRPr b="0" lang="pt-BR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48200" y="1304640"/>
            <a:ext cx="1746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32f2f"/>
                </a:solidFill>
                <a:latin typeface="Calibri"/>
              </a:rPr>
              <a:t>01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832040" y="1304640"/>
            <a:ext cx="66384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Chegada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206360" y="1567080"/>
            <a:ext cx="191484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546e7a"/>
                </a:solidFill>
                <a:latin typeface="Calibri"/>
              </a:rPr>
              <a:t>Entrada no sistema do Pronto-Socorro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448200" y="1938240"/>
            <a:ext cx="1746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32f2f"/>
                </a:solidFill>
                <a:latin typeface="Calibri"/>
              </a:rPr>
              <a:t>02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845720" y="1938240"/>
            <a:ext cx="63612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Registro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1185840" y="2200680"/>
            <a:ext cx="195588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546e7a"/>
                </a:solidFill>
                <a:latin typeface="Calibri"/>
              </a:rPr>
              <a:t>Cadastro inicial com dados do paciente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448200" y="2571840"/>
            <a:ext cx="1746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32f2f"/>
                </a:solidFill>
                <a:latin typeface="Calibri"/>
              </a:rPr>
              <a:t>03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1831680" y="2571840"/>
            <a:ext cx="66348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 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Triagem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1377000" y="2834280"/>
            <a:ext cx="157356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546e7a"/>
                </a:solidFill>
                <a:latin typeface="Calibri"/>
              </a:rPr>
              <a:t>Avaliação inicial por enfermeira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448200" y="3205440"/>
            <a:ext cx="1746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32f2f"/>
                </a:solidFill>
                <a:latin typeface="Calibri"/>
              </a:rPr>
              <a:t>04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1641240" y="3205440"/>
            <a:ext cx="104508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Atendimento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1350000" y="3468240"/>
            <a:ext cx="16318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546e7a"/>
                </a:solidFill>
                <a:latin typeface="Calibri"/>
              </a:rPr>
              <a:t>Consulta e diagnóstico clínico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546e7a"/>
                </a:solidFill>
                <a:latin typeface="Calibri"/>
              </a:rPr>
              <a:t>realizada pelo Assistente Médico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448200" y="3839040"/>
            <a:ext cx="1746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32f2f"/>
                </a:solidFill>
                <a:latin typeface="Calibri"/>
              </a:rPr>
              <a:t>05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1873080" y="3839040"/>
            <a:ext cx="5814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Exames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1076760" y="4101840"/>
            <a:ext cx="217404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546e7a"/>
                </a:solidFill>
                <a:latin typeface="Calibri"/>
              </a:rPr>
              <a:t>Raio-X ou Ultrassom conforme necessidade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448200" y="4473000"/>
            <a:ext cx="1746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32f2f"/>
                </a:solidFill>
                <a:latin typeface="Calibri"/>
              </a:rPr>
              <a:t>06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1958400" y="4473000"/>
            <a:ext cx="41076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Saída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1105200" y="4735440"/>
            <a:ext cx="211752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546e7a"/>
                </a:solidFill>
                <a:latin typeface="Calibri"/>
              </a:rPr>
              <a:t>Liberação após conclusão do atendimento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8605440" y="4819320"/>
            <a:ext cx="1047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999999"/>
                </a:solidFill>
                <a:latin typeface="Calibri"/>
              </a:rPr>
              <a:t>02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2"/>
          <a:stretch/>
        </p:blipFill>
        <p:spPr>
          <a:xfrm>
            <a:off x="3420000" y="1782000"/>
            <a:ext cx="5639040" cy="23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1" name="Shape 0"/>
          <p:cNvSpPr/>
          <p:nvPr/>
        </p:nvSpPr>
        <p:spPr>
          <a:xfrm>
            <a:off x="0" y="-31320"/>
            <a:ext cx="9143280" cy="12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0" y="1163520"/>
            <a:ext cx="9143280" cy="648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2945520" y="401040"/>
            <a:ext cx="32518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00000"/>
                </a:solidFill>
                <a:latin typeface="Calibri"/>
              </a:rPr>
              <a:t>Os Recursos em Ação</a:t>
            </a:r>
            <a:endParaRPr b="0" lang="pt-BR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1470600" y="1452960"/>
            <a:ext cx="12582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Recursos Móveis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628560" y="1772640"/>
            <a:ext cx="294264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 • </a:t>
            </a: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Enfermeiras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 • </a:t>
            </a: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Técnicos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 • </a:t>
            </a: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Médicos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1397520" y="2675520"/>
            <a:ext cx="140436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Recursos Estáticos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628560" y="2995200"/>
            <a:ext cx="294264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 • </a:t>
            </a: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Salas de Triagem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 • </a:t>
            </a: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Salas de Raio-X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 • </a:t>
            </a: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Salas de Atendimento Expresso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1389960" y="3898080"/>
            <a:ext cx="141948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</a:rPr>
              <a:t>Recursos Portáteis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628560" y="4217760"/>
            <a:ext cx="2942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 • </a:t>
            </a: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Aparelho de Ultrassom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 • </a:t>
            </a: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Equipamentos Auxiliares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4000680" y="4453200"/>
            <a:ext cx="471420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608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i="1" lang="en-US" sz="839" spc="-1" strike="noStrike">
                <a:solidFill>
                  <a:srgbClr val="666666"/>
                </a:solidFill>
                <a:latin typeface="Calibri"/>
              </a:rPr>
              <a:t>A visualização 3D permite observar a movimentação dos recursos móveis, a formação de filas nos recursos estáticos e a utilização dinâmica dos recursos portáteis.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8605440" y="4821120"/>
            <a:ext cx="1047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999999"/>
                </a:solidFill>
                <a:latin typeface="Calibri"/>
              </a:rPr>
              <a:t>03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3420000" y="1800000"/>
            <a:ext cx="5542200" cy="23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4" name="Shape 0"/>
          <p:cNvSpPr/>
          <p:nvPr/>
        </p:nvSpPr>
        <p:spPr>
          <a:xfrm>
            <a:off x="0" y="0"/>
            <a:ext cx="9143280" cy="11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0" y="1152720"/>
            <a:ext cx="9143280" cy="648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2400840" y="428760"/>
            <a:ext cx="43416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00000"/>
                </a:solidFill>
                <a:latin typeface="Calibri"/>
              </a:rPr>
              <a:t>O Que os Números Mostram</a:t>
            </a:r>
            <a:endParaRPr b="0" lang="pt-BR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767960" y="1891080"/>
            <a:ext cx="89244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546e7a"/>
                </a:solidFill>
                <a:latin typeface="Calibri"/>
              </a:rPr>
              <a:t>Gargalo Identificado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902520" y="2084040"/>
            <a:ext cx="262368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860" spc="-1" strike="noStrike">
                <a:solidFill>
                  <a:srgbClr val="d32f2f"/>
                </a:solidFill>
                <a:latin typeface="Calibri"/>
              </a:rPr>
              <a:t>Triagem &gt; 85%</a:t>
            </a:r>
            <a:endParaRPr b="0" lang="pt-BR" sz="2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428760" y="2598480"/>
            <a:ext cx="357120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</a:rPr>
              <a:t>A alta taxa de ocupação na triagem cria um efeito cascata, gerando filas logo na entrada do sistema e aumentando o tempo total de permanência.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1679040" y="3407040"/>
            <a:ext cx="107064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546e7a"/>
                </a:solidFill>
                <a:latin typeface="Calibri"/>
              </a:rPr>
              <a:t>Instabilidade do Sistema</a:t>
            </a:r>
            <a:endParaRPr b="0" lang="pt-BR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428760" y="3600000"/>
            <a:ext cx="357120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</a:rPr>
              <a:t>A variabilidade no tempo de permanência (indica que o sistema opera próximo ao limite, sendo altamente sensível a picos de demanda.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5918040" y="1387080"/>
            <a:ext cx="130716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000000"/>
                </a:solidFill>
                <a:latin typeface="Calibri"/>
              </a:rPr>
              <a:t>Utilização de Recursos (%)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1" descr="preencoded.png"/>
          <p:cNvPicPr/>
          <p:nvPr/>
        </p:nvPicPr>
        <p:blipFill>
          <a:blip r:embed="rId2"/>
          <a:stretch/>
        </p:blipFill>
        <p:spPr>
          <a:xfrm>
            <a:off x="4429080" y="1599840"/>
            <a:ext cx="4285440" cy="1463760"/>
          </a:xfrm>
          <a:prstGeom prst="rect">
            <a:avLst/>
          </a:prstGeom>
          <a:ln w="0">
            <a:noFill/>
          </a:ln>
        </p:spPr>
      </p:pic>
      <p:sp>
        <p:nvSpPr>
          <p:cNvPr id="64" name="Text 9"/>
          <p:cNvSpPr/>
          <p:nvPr/>
        </p:nvSpPr>
        <p:spPr>
          <a:xfrm>
            <a:off x="5730120" y="3235680"/>
            <a:ext cx="1683720" cy="1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pc="-1" strike="noStrike">
                <a:solidFill>
                  <a:srgbClr val="000000"/>
                </a:solidFill>
                <a:latin typeface="Calibri"/>
              </a:rPr>
              <a:t>Tempo de Permanência (minutos)</a:t>
            </a:r>
            <a:endParaRPr b="0" lang="pt-BR" sz="7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8895240" y="4925520"/>
            <a:ext cx="10476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999999"/>
                </a:solidFill>
                <a:latin typeface="Calibri"/>
              </a:rPr>
              <a:t>04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2" descr="preencoded.png"/>
          <p:cNvPicPr/>
          <p:nvPr/>
        </p:nvPicPr>
        <p:blipFill>
          <a:blip r:embed="rId3"/>
          <a:stretch/>
        </p:blipFill>
        <p:spPr>
          <a:xfrm>
            <a:off x="4429440" y="3448440"/>
            <a:ext cx="4285800" cy="146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68" name="Text 0"/>
          <p:cNvSpPr/>
          <p:nvPr/>
        </p:nvSpPr>
        <p:spPr>
          <a:xfrm>
            <a:off x="1142640" y="428760"/>
            <a:ext cx="32000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00000"/>
                </a:solidFill>
                <a:latin typeface="Calibri"/>
              </a:rPr>
              <a:t>Conclusão e Impacto</a:t>
            </a:r>
            <a:endParaRPr b="0" lang="pt-BR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1872360" y="1464480"/>
            <a:ext cx="194076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Identificação de Gargalos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771480" y="1755720"/>
            <a:ext cx="41425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A simulação revelou pontos críticos de estrangulamento, permitindo foco preciso nas áreas que limitam a capacidade.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1939320" y="2369880"/>
            <a:ext cx="180684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Experimentação Segura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771480" y="2661120"/>
            <a:ext cx="41425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Capacidade de testar cenários alternativos e melhorias operacionais sem riscos aos pacientes ou custos reais.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812240" y="3275280"/>
            <a:ext cx="20610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alibri"/>
              </a:rPr>
              <a:t>Decisão Baseada em Dados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771480" y="3566520"/>
            <a:ext cx="41425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546e7a"/>
                </a:solidFill>
                <a:latin typeface="Calibri"/>
              </a:rPr>
              <a:t>Transformação da gestão hospitalar através de insights quantitativos e previsibilidade operacional.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2171880" y="4365000"/>
            <a:ext cx="11422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pc="-1" strike="noStrike">
                <a:solidFill>
                  <a:srgbClr val="d32f2f"/>
                </a:solidFill>
                <a:latin typeface="Calibri"/>
              </a:rPr>
              <a:t>Obrigado!</a:t>
            </a:r>
            <a:endParaRPr b="0" lang="pt-BR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5486400" y="0"/>
            <a:ext cx="3656880" cy="5142960"/>
          </a:xfrm>
          <a:prstGeom prst="rect">
            <a:avLst/>
          </a:prstGeom>
          <a:solidFill>
            <a:srgbClr val="f9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6698520" y="3180600"/>
            <a:ext cx="1232640" cy="1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i="1" lang="en-US" sz="730" spc="-1" strike="noStrike">
                <a:solidFill>
                  <a:srgbClr val="999999"/>
                </a:solidFill>
                <a:latin typeface="Calibri"/>
              </a:rPr>
              <a:t>Modelo de Simulaão AnyLogic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 flipH="1">
            <a:off x="8790120" y="4793400"/>
            <a:ext cx="1047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999999"/>
                </a:solidFill>
                <a:latin typeface="Calibri"/>
              </a:rPr>
              <a:t>05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5846400" y="900000"/>
            <a:ext cx="3153240" cy="210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2025-12-01T01:57:01Z</dcterms:created>
  <dc:creator>PptxGenJS</dc:creator>
  <dc:description/>
  <dc:language>pt-BR</dc:language>
  <cp:lastModifiedBy/>
  <dcterms:modified xsi:type="dcterms:W3CDTF">2025-11-30T23:57:22Z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